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16" r:id="rId1"/>
  </p:sldMasterIdLst>
  <p:notesMasterIdLst>
    <p:notesMasterId r:id="rId15"/>
  </p:notesMasterIdLst>
  <p:sldIdLst>
    <p:sldId id="256" r:id="rId2"/>
    <p:sldId id="319" r:id="rId3"/>
    <p:sldId id="259" r:id="rId4"/>
    <p:sldId id="320" r:id="rId5"/>
    <p:sldId id="306" r:id="rId6"/>
    <p:sldId id="308" r:id="rId7"/>
    <p:sldId id="310" r:id="rId8"/>
    <p:sldId id="316" r:id="rId9"/>
    <p:sldId id="312" r:id="rId10"/>
    <p:sldId id="314" r:id="rId11"/>
    <p:sldId id="321" r:id="rId12"/>
    <p:sldId id="317" r:id="rId13"/>
    <p:sldId id="318" r:id="rId14"/>
  </p:sldIdLst>
  <p:sldSz cx="9144000" cy="5143500" type="screen16x9"/>
  <p:notesSz cx="6858000" cy="9144000"/>
  <p:embeddedFontLst>
    <p:embeddedFont>
      <p:font typeface="Arial Black" panose="020B0A04020102020204" pitchFamily="34" charset="0"/>
      <p:bold r:id="rId16"/>
    </p:embeddedFont>
    <p:embeddedFont>
      <p:font typeface="Gill Sans MT" panose="020B0502020104020203" pitchFamily="34" charset="0"/>
      <p:regular r:id="rId17"/>
      <p:bold r:id="rId18"/>
      <p:italic r:id="rId19"/>
      <p:boldItalic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69F713-77D3-4420-991C-E0FFBAE28082}">
  <a:tblStyle styleId="{2269F713-77D3-4420-991C-E0FFBAE280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0" autoAdjust="0"/>
    <p:restoredTop sz="95196" autoAdjust="0"/>
  </p:normalViewPr>
  <p:slideViewPr>
    <p:cSldViewPr snapToGrid="0">
      <p:cViewPr varScale="1">
        <p:scale>
          <a:sx n="113" d="100"/>
          <a:sy n="113" d="100"/>
        </p:scale>
        <p:origin x="43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e1f83d2858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e1f83d2858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92999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F427C48-07C0-45B3-A885-8F666B80CECF}" type="datetimeFigureOut">
              <a:rPr lang="en-IN" smtClean="0"/>
              <a:t>13-04-2024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3719526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427C48-07C0-45B3-A885-8F666B80CECF}" type="datetimeFigureOut">
              <a:rPr lang="en-IN" smtClean="0"/>
              <a:t>13-04-2024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290897291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F427C48-07C0-45B3-A885-8F666B80CECF}" type="datetimeFigureOut">
              <a:rPr lang="en-IN" smtClean="0"/>
              <a:t>13-04-2024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298916257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86434" y="1978533"/>
            <a:ext cx="3203828" cy="232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1978533"/>
            <a:ext cx="3202685" cy="232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F427C48-07C0-45B3-A885-8F666B80CECF}" type="datetimeFigureOut">
              <a:rPr lang="en-IN" smtClean="0"/>
              <a:t>13-04-2024</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152212544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87577" y="2357438"/>
            <a:ext cx="3202686" cy="19475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2357438"/>
            <a:ext cx="3190113" cy="194758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F427C48-07C0-45B3-A885-8F666B80CECF}" type="datetimeFigureOut">
              <a:rPr lang="en-IN" smtClean="0"/>
              <a:t>13-04-2024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16D3E5-6370-404C-9E35-46956AC92958}"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529833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427C48-07C0-45B3-A885-8F666B80CECF}" type="datetimeFigureOut">
              <a:rPr lang="en-IN" smtClean="0"/>
              <a:t>13-04-2024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12219385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7C48-07C0-45B3-A885-8F666B80CECF}" type="datetimeFigureOut">
              <a:rPr lang="en-IN" smtClean="0"/>
              <a:t>13-04-2024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3955589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9" name="Date Placeholder 8"/>
          <p:cNvSpPr>
            <a:spLocks noGrp="1"/>
          </p:cNvSpPr>
          <p:nvPr>
            <p:ph type="dt" sz="half" idx="10"/>
          </p:nvPr>
        </p:nvSpPr>
        <p:spPr/>
        <p:txBody>
          <a:bodyPr/>
          <a:lstStyle/>
          <a:p>
            <a:fld id="{CF427C48-07C0-45B3-A885-8F666B80CECF}" type="datetimeFigureOut">
              <a:rPr lang="en-IN" smtClean="0"/>
              <a:t>13-04-2024</a:t>
            </a:fld>
            <a:endParaRPr lang="en-IN"/>
          </a:p>
        </p:txBody>
      </p:sp>
      <p:sp>
        <p:nvSpPr>
          <p:cNvPr id="10" name="Footer Placeholder 9"/>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11356367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6392" y="1682871"/>
            <a:ext cx="3371249" cy="850980"/>
          </a:xfrm>
          <a:solidFill>
            <a:srgbClr val="FFFFFF"/>
          </a:solidFill>
          <a:ln>
            <a:solidFill>
              <a:srgbClr val="404040"/>
            </a:solidFill>
          </a:ln>
        </p:spPr>
        <p:txBody>
          <a:bodyPr anchor="ctr" anchorCtr="1">
            <a:noAutofit/>
          </a:bodyPr>
          <a:lstStyle>
            <a:lvl1pPr>
              <a:defRPr sz="165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0"/>
            <a:ext cx="4576573" cy="51435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36676" y="2662439"/>
            <a:ext cx="2846070" cy="1645528"/>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F427C48-07C0-45B3-A885-8F666B80CECF}" type="datetimeFigureOut">
              <a:rPr lang="en-IN" smtClean="0"/>
              <a:t>13-04-2024</a:t>
            </a:fld>
            <a:endParaRPr lang="en-IN"/>
          </a:p>
        </p:txBody>
      </p:sp>
      <p:sp>
        <p:nvSpPr>
          <p:cNvPr id="9" name="Footer Placeholder 8"/>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128264050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27C48-07C0-45B3-A885-8F666B80CECF}" type="datetimeFigureOut">
              <a:rPr lang="en-IN" smtClean="0"/>
              <a:t>13-04-2024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379669559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3352" y="702945"/>
            <a:ext cx="4648867" cy="37376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27C48-07C0-45B3-A885-8F666B80CECF}" type="datetimeFigureOut">
              <a:rPr lang="en-IN" smtClean="0"/>
              <a:t>13-04-2024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16D3E5-6370-404C-9E35-46956AC92958}" type="slidenum">
              <a:rPr lang="en-IN" smtClean="0"/>
              <a:t>‹#›</a:t>
            </a:fld>
            <a:endParaRPr lang="en-IN"/>
          </a:p>
        </p:txBody>
      </p:sp>
    </p:spTree>
    <p:extLst>
      <p:ext uri="{BB962C8B-B14F-4D97-AF65-F5344CB8AC3E}">
        <p14:creationId xmlns:p14="http://schemas.microsoft.com/office/powerpoint/2010/main" val="75809665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80"/>
        <p:cNvGrpSpPr/>
        <p:nvPr/>
      </p:nvGrpSpPr>
      <p:grpSpPr>
        <a:xfrm>
          <a:off x="0" y="0"/>
          <a:ext cx="0" cy="0"/>
          <a:chOff x="0" y="0"/>
          <a:chExt cx="0" cy="0"/>
        </a:xfrm>
      </p:grpSpPr>
      <p:sp>
        <p:nvSpPr>
          <p:cNvPr id="183" name="Google Shape;183;p9"/>
          <p:cNvSpPr txBox="1">
            <a:spLocks noGrp="1"/>
          </p:cNvSpPr>
          <p:nvPr>
            <p:ph type="title"/>
          </p:nvPr>
        </p:nvSpPr>
        <p:spPr>
          <a:xfrm>
            <a:off x="1617725" y="1474488"/>
            <a:ext cx="5590200" cy="705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625"/>
            </a:lvl1pPr>
            <a:lvl2pPr lvl="1" rtl="0">
              <a:spcBef>
                <a:spcPts val="0"/>
              </a:spcBef>
              <a:spcAft>
                <a:spcPts val="0"/>
              </a:spcAft>
              <a:buSzPts val="2400"/>
              <a:buNone/>
              <a:defRPr sz="1800"/>
            </a:lvl2pPr>
            <a:lvl3pPr lvl="2" rtl="0">
              <a:spcBef>
                <a:spcPts val="0"/>
              </a:spcBef>
              <a:spcAft>
                <a:spcPts val="0"/>
              </a:spcAft>
              <a:buSzPts val="2400"/>
              <a:buNone/>
              <a:defRPr sz="1800"/>
            </a:lvl3pPr>
            <a:lvl4pPr lvl="3" rtl="0">
              <a:spcBef>
                <a:spcPts val="0"/>
              </a:spcBef>
              <a:spcAft>
                <a:spcPts val="0"/>
              </a:spcAft>
              <a:buSzPts val="2400"/>
              <a:buNone/>
              <a:defRPr sz="1800"/>
            </a:lvl4pPr>
            <a:lvl5pPr lvl="4" rtl="0">
              <a:spcBef>
                <a:spcPts val="0"/>
              </a:spcBef>
              <a:spcAft>
                <a:spcPts val="0"/>
              </a:spcAft>
              <a:buSzPts val="2400"/>
              <a:buNone/>
              <a:defRPr sz="1800"/>
            </a:lvl5pPr>
            <a:lvl6pPr lvl="5" rtl="0">
              <a:spcBef>
                <a:spcPts val="0"/>
              </a:spcBef>
              <a:spcAft>
                <a:spcPts val="0"/>
              </a:spcAft>
              <a:buSzPts val="2400"/>
              <a:buNone/>
              <a:defRPr sz="1800"/>
            </a:lvl6pPr>
            <a:lvl7pPr lvl="6" rtl="0">
              <a:spcBef>
                <a:spcPts val="0"/>
              </a:spcBef>
              <a:spcAft>
                <a:spcPts val="0"/>
              </a:spcAft>
              <a:buSzPts val="2400"/>
              <a:buNone/>
              <a:defRPr sz="1800"/>
            </a:lvl7pPr>
            <a:lvl8pPr lvl="7" rtl="0">
              <a:spcBef>
                <a:spcPts val="0"/>
              </a:spcBef>
              <a:spcAft>
                <a:spcPts val="0"/>
              </a:spcAft>
              <a:buSzPts val="2400"/>
              <a:buNone/>
              <a:defRPr sz="1800"/>
            </a:lvl8pPr>
            <a:lvl9pPr lvl="8" rtl="0">
              <a:spcBef>
                <a:spcPts val="0"/>
              </a:spcBef>
              <a:spcAft>
                <a:spcPts val="0"/>
              </a:spcAft>
              <a:buSzPts val="2400"/>
              <a:buNone/>
              <a:defRPr sz="1800"/>
            </a:lvl9pPr>
          </a:lstStyle>
          <a:p>
            <a:endParaRPr/>
          </a:p>
        </p:txBody>
      </p:sp>
      <p:sp>
        <p:nvSpPr>
          <p:cNvPr id="184" name="Google Shape;184;p9"/>
          <p:cNvSpPr txBox="1">
            <a:spLocks noGrp="1"/>
          </p:cNvSpPr>
          <p:nvPr>
            <p:ph type="subTitle" idx="1"/>
          </p:nvPr>
        </p:nvSpPr>
        <p:spPr>
          <a:xfrm>
            <a:off x="1617725" y="2179488"/>
            <a:ext cx="5590200" cy="1362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rtl="0">
              <a:spcBef>
                <a:spcPts val="90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3761158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84"/>
        <p:cNvGrpSpPr/>
        <p:nvPr/>
      </p:nvGrpSpPr>
      <p:grpSpPr>
        <a:xfrm>
          <a:off x="0" y="0"/>
          <a:ext cx="0" cy="0"/>
          <a:chOff x="0" y="0"/>
          <a:chExt cx="0" cy="0"/>
        </a:xfrm>
      </p:grpSpPr>
      <p:sp>
        <p:nvSpPr>
          <p:cNvPr id="85" name="Google Shape;85;p5"/>
          <p:cNvSpPr txBox="1">
            <a:spLocks noGrp="1"/>
          </p:cNvSpPr>
          <p:nvPr>
            <p:ph type="title"/>
          </p:nvPr>
        </p:nvSpPr>
        <p:spPr>
          <a:xfrm>
            <a:off x="732300" y="445025"/>
            <a:ext cx="76794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86" name="Google Shape;86;p5"/>
          <p:cNvSpPr txBox="1">
            <a:spLocks noGrp="1"/>
          </p:cNvSpPr>
          <p:nvPr>
            <p:ph type="title" idx="2"/>
          </p:nvPr>
        </p:nvSpPr>
        <p:spPr>
          <a:xfrm>
            <a:off x="5318775" y="1853650"/>
            <a:ext cx="25707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1500"/>
            </a:lvl1pPr>
            <a:lvl2pPr lvl="1" rtl="0">
              <a:spcBef>
                <a:spcPts val="0"/>
              </a:spcBef>
              <a:spcAft>
                <a:spcPts val="0"/>
              </a:spcAft>
              <a:buSzPts val="2400"/>
              <a:buNone/>
              <a:defRPr sz="1800"/>
            </a:lvl2pPr>
            <a:lvl3pPr lvl="2" rtl="0">
              <a:spcBef>
                <a:spcPts val="0"/>
              </a:spcBef>
              <a:spcAft>
                <a:spcPts val="0"/>
              </a:spcAft>
              <a:buSzPts val="2400"/>
              <a:buNone/>
              <a:defRPr sz="1800"/>
            </a:lvl3pPr>
            <a:lvl4pPr lvl="3" rtl="0">
              <a:spcBef>
                <a:spcPts val="0"/>
              </a:spcBef>
              <a:spcAft>
                <a:spcPts val="0"/>
              </a:spcAft>
              <a:buSzPts val="2400"/>
              <a:buNone/>
              <a:defRPr sz="1800"/>
            </a:lvl4pPr>
            <a:lvl5pPr lvl="4" rtl="0">
              <a:spcBef>
                <a:spcPts val="0"/>
              </a:spcBef>
              <a:spcAft>
                <a:spcPts val="0"/>
              </a:spcAft>
              <a:buSzPts val="2400"/>
              <a:buNone/>
              <a:defRPr sz="1800"/>
            </a:lvl5pPr>
            <a:lvl6pPr lvl="5" rtl="0">
              <a:spcBef>
                <a:spcPts val="0"/>
              </a:spcBef>
              <a:spcAft>
                <a:spcPts val="0"/>
              </a:spcAft>
              <a:buSzPts val="2400"/>
              <a:buNone/>
              <a:defRPr sz="1800"/>
            </a:lvl6pPr>
            <a:lvl7pPr lvl="6" rtl="0">
              <a:spcBef>
                <a:spcPts val="0"/>
              </a:spcBef>
              <a:spcAft>
                <a:spcPts val="0"/>
              </a:spcAft>
              <a:buSzPts val="2400"/>
              <a:buNone/>
              <a:defRPr sz="1800"/>
            </a:lvl7pPr>
            <a:lvl8pPr lvl="7" rtl="0">
              <a:spcBef>
                <a:spcPts val="0"/>
              </a:spcBef>
              <a:spcAft>
                <a:spcPts val="0"/>
              </a:spcAft>
              <a:buSzPts val="2400"/>
              <a:buNone/>
              <a:defRPr sz="1800"/>
            </a:lvl8pPr>
            <a:lvl9pPr lvl="8" rtl="0">
              <a:spcBef>
                <a:spcPts val="0"/>
              </a:spcBef>
              <a:spcAft>
                <a:spcPts val="0"/>
              </a:spcAft>
              <a:buSzPts val="2400"/>
              <a:buNone/>
              <a:defRPr sz="1800"/>
            </a:lvl9pPr>
          </a:lstStyle>
          <a:p>
            <a:endParaRPr/>
          </a:p>
        </p:txBody>
      </p:sp>
      <p:sp>
        <p:nvSpPr>
          <p:cNvPr id="87" name="Google Shape;87;p5"/>
          <p:cNvSpPr txBox="1">
            <a:spLocks noGrp="1"/>
          </p:cNvSpPr>
          <p:nvPr>
            <p:ph type="subTitle" idx="1"/>
          </p:nvPr>
        </p:nvSpPr>
        <p:spPr>
          <a:xfrm>
            <a:off x="5318789" y="2381350"/>
            <a:ext cx="2570700" cy="174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05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8" name="Google Shape;88;p5"/>
          <p:cNvSpPr txBox="1">
            <a:spLocks noGrp="1"/>
          </p:cNvSpPr>
          <p:nvPr>
            <p:ph type="title" idx="3"/>
          </p:nvPr>
        </p:nvSpPr>
        <p:spPr>
          <a:xfrm>
            <a:off x="1254651" y="1853650"/>
            <a:ext cx="25707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1500"/>
            </a:lvl1pPr>
            <a:lvl2pPr lvl="1" rtl="0">
              <a:spcBef>
                <a:spcPts val="0"/>
              </a:spcBef>
              <a:spcAft>
                <a:spcPts val="0"/>
              </a:spcAft>
              <a:buSzPts val="2400"/>
              <a:buNone/>
              <a:defRPr sz="1800"/>
            </a:lvl2pPr>
            <a:lvl3pPr lvl="2" rtl="0">
              <a:spcBef>
                <a:spcPts val="0"/>
              </a:spcBef>
              <a:spcAft>
                <a:spcPts val="0"/>
              </a:spcAft>
              <a:buSzPts val="2400"/>
              <a:buNone/>
              <a:defRPr sz="1800"/>
            </a:lvl3pPr>
            <a:lvl4pPr lvl="3" rtl="0">
              <a:spcBef>
                <a:spcPts val="0"/>
              </a:spcBef>
              <a:spcAft>
                <a:spcPts val="0"/>
              </a:spcAft>
              <a:buSzPts val="2400"/>
              <a:buNone/>
              <a:defRPr sz="1800"/>
            </a:lvl4pPr>
            <a:lvl5pPr lvl="4" rtl="0">
              <a:spcBef>
                <a:spcPts val="0"/>
              </a:spcBef>
              <a:spcAft>
                <a:spcPts val="0"/>
              </a:spcAft>
              <a:buSzPts val="2400"/>
              <a:buNone/>
              <a:defRPr sz="1800"/>
            </a:lvl5pPr>
            <a:lvl6pPr lvl="5" rtl="0">
              <a:spcBef>
                <a:spcPts val="0"/>
              </a:spcBef>
              <a:spcAft>
                <a:spcPts val="0"/>
              </a:spcAft>
              <a:buSzPts val="2400"/>
              <a:buNone/>
              <a:defRPr sz="1800"/>
            </a:lvl6pPr>
            <a:lvl7pPr lvl="6" rtl="0">
              <a:spcBef>
                <a:spcPts val="0"/>
              </a:spcBef>
              <a:spcAft>
                <a:spcPts val="0"/>
              </a:spcAft>
              <a:buSzPts val="2400"/>
              <a:buNone/>
              <a:defRPr sz="1800"/>
            </a:lvl7pPr>
            <a:lvl8pPr lvl="7" rtl="0">
              <a:spcBef>
                <a:spcPts val="0"/>
              </a:spcBef>
              <a:spcAft>
                <a:spcPts val="0"/>
              </a:spcAft>
              <a:buSzPts val="2400"/>
              <a:buNone/>
              <a:defRPr sz="1800"/>
            </a:lvl8pPr>
            <a:lvl9pPr lvl="8" rtl="0">
              <a:spcBef>
                <a:spcPts val="0"/>
              </a:spcBef>
              <a:spcAft>
                <a:spcPts val="0"/>
              </a:spcAft>
              <a:buSzPts val="2400"/>
              <a:buNone/>
              <a:defRPr sz="1800"/>
            </a:lvl9pPr>
          </a:lstStyle>
          <a:p>
            <a:endParaRPr/>
          </a:p>
        </p:txBody>
      </p:sp>
      <p:sp>
        <p:nvSpPr>
          <p:cNvPr id="89" name="Google Shape;89;p5"/>
          <p:cNvSpPr txBox="1">
            <a:spLocks noGrp="1"/>
          </p:cNvSpPr>
          <p:nvPr>
            <p:ph type="subTitle" idx="4"/>
          </p:nvPr>
        </p:nvSpPr>
        <p:spPr>
          <a:xfrm>
            <a:off x="1254514" y="2381350"/>
            <a:ext cx="2570700" cy="174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05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06125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73352" y="723519"/>
            <a:ext cx="5797296"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3352" y="1978534"/>
            <a:ext cx="5797296" cy="23264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866072" y="4679112"/>
            <a:ext cx="2065310"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CF427C48-07C0-45B3-A885-8F666B80CECF}" type="datetimeFigureOut">
              <a:rPr lang="en-IN" smtClean="0"/>
              <a:t>13-04-2024</a:t>
            </a:fld>
            <a:endParaRPr lang="en-IN"/>
          </a:p>
        </p:txBody>
      </p:sp>
      <p:sp>
        <p:nvSpPr>
          <p:cNvPr id="5" name="Footer Placeholder 4"/>
          <p:cNvSpPr>
            <a:spLocks noGrp="1"/>
          </p:cNvSpPr>
          <p:nvPr>
            <p:ph type="ftr" sz="quarter" idx="3"/>
          </p:nvPr>
        </p:nvSpPr>
        <p:spPr>
          <a:xfrm>
            <a:off x="1200150" y="4677156"/>
            <a:ext cx="4425892" cy="24003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8069192" y="4663440"/>
            <a:ext cx="274320" cy="27432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fld id="{8F16D3E5-6370-404C-9E35-46956AC92958}" type="slidenum">
              <a:rPr lang="en-IN" smtClean="0"/>
              <a:t>‹#›</a:t>
            </a:fld>
            <a:endParaRPr lang="en-IN"/>
          </a:p>
        </p:txBody>
      </p:sp>
    </p:spTree>
    <p:extLst>
      <p:ext uri="{BB962C8B-B14F-4D97-AF65-F5344CB8AC3E}">
        <p14:creationId xmlns:p14="http://schemas.microsoft.com/office/powerpoint/2010/main" val="54867298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p:hf sldNum="0" hdr="0" ftr="0" dt="0"/>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35"/>
          <p:cNvSpPr txBox="1">
            <a:spLocks noGrp="1"/>
          </p:cNvSpPr>
          <p:nvPr>
            <p:ph type="ctrTitle"/>
          </p:nvPr>
        </p:nvSpPr>
        <p:spPr>
          <a:xfrm>
            <a:off x="1304958" y="1498689"/>
            <a:ext cx="6965283" cy="1556775"/>
          </a:xfrm>
          <a:prstGeom prst="rect">
            <a:avLst/>
          </a:prstGeom>
        </p:spPr>
        <p:txBody>
          <a:bodyPr spcFirstLastPara="1" vert="horz" wrap="square" lIns="68569" tIns="68569" rIns="68569" bIns="68569" rtlCol="0" anchor="t" anchorCtr="0">
            <a:noAutofit/>
          </a:bodyPr>
          <a:lstStyle/>
          <a:p>
            <a:pPr>
              <a:spcBef>
                <a:spcPts val="0"/>
              </a:spcBef>
            </a:pPr>
            <a:r>
              <a:rPr lang="en-US" sz="3300" dirty="0">
                <a:latin typeface="Arial Black" panose="020B0A04020102020204" pitchFamily="34" charset="0"/>
              </a:rPr>
              <a:t>Indicators of Heart Disease Group – Health Statistics</a:t>
            </a:r>
            <a:br>
              <a:rPr lang="en-US" sz="4125" dirty="0"/>
            </a:br>
            <a:endParaRPr sz="4125" dirty="0"/>
          </a:p>
        </p:txBody>
      </p:sp>
      <p:sp>
        <p:nvSpPr>
          <p:cNvPr id="772" name="Google Shape;772;p35"/>
          <p:cNvSpPr txBox="1">
            <a:spLocks noGrp="1"/>
          </p:cNvSpPr>
          <p:nvPr>
            <p:ph type="subTitle" idx="1"/>
          </p:nvPr>
        </p:nvSpPr>
        <p:spPr>
          <a:xfrm>
            <a:off x="5784427" y="3491298"/>
            <a:ext cx="2804160" cy="1033288"/>
          </a:xfrm>
          <a:prstGeom prst="rect">
            <a:avLst/>
          </a:prstGeom>
        </p:spPr>
        <p:txBody>
          <a:bodyPr spcFirstLastPara="1" vert="horz" wrap="square" lIns="68569" tIns="68569" rIns="68569" bIns="68569" rtlCol="0" anchor="t" anchorCtr="0">
            <a:noAutofit/>
          </a:bodyPr>
          <a:lstStyle/>
          <a:p>
            <a:pPr algn="r">
              <a:spcBef>
                <a:spcPts val="0"/>
              </a:spcBef>
            </a:pPr>
            <a:r>
              <a:rPr lang="en-US" dirty="0">
                <a:latin typeface="Arial Black" panose="020B0A04020102020204" pitchFamily="34" charset="0"/>
              </a:rPr>
              <a:t>-Group Members</a:t>
            </a:r>
          </a:p>
          <a:p>
            <a:pPr algn="r">
              <a:spcBef>
                <a:spcPts val="0"/>
              </a:spcBef>
            </a:pPr>
            <a:r>
              <a:rPr lang="en-US" dirty="0">
                <a:latin typeface="Arial Black" panose="020B0A04020102020204" pitchFamily="34" charset="0"/>
              </a:rPr>
              <a:t>Sameer </a:t>
            </a:r>
            <a:r>
              <a:rPr lang="en-US" dirty="0" err="1">
                <a:latin typeface="Arial Black" panose="020B0A04020102020204" pitchFamily="34" charset="0"/>
              </a:rPr>
              <a:t>Savan</a:t>
            </a:r>
            <a:r>
              <a:rPr lang="en-US" dirty="0">
                <a:latin typeface="Arial Black" panose="020B0A04020102020204" pitchFamily="34" charset="0"/>
              </a:rPr>
              <a:t> </a:t>
            </a:r>
            <a:r>
              <a:rPr lang="en-US" dirty="0" err="1">
                <a:latin typeface="Arial Black" panose="020B0A04020102020204" pitchFamily="34" charset="0"/>
              </a:rPr>
              <a:t>Tumarada</a:t>
            </a:r>
            <a:endParaRPr lang="en-US" dirty="0">
              <a:latin typeface="Arial Black" panose="020B0A04020102020204" pitchFamily="34" charset="0"/>
            </a:endParaRPr>
          </a:p>
          <a:p>
            <a:pPr algn="r">
              <a:spcBef>
                <a:spcPts val="0"/>
              </a:spcBef>
            </a:pPr>
            <a:r>
              <a:rPr lang="en-US" dirty="0">
                <a:latin typeface="Arial Black" panose="020B0A04020102020204" pitchFamily="34" charset="0"/>
              </a:rPr>
              <a:t>Ankit Prashant Nayak </a:t>
            </a:r>
          </a:p>
          <a:p>
            <a:pPr marL="214313" indent="-214313">
              <a:spcBef>
                <a:spcPts val="0"/>
              </a:spcBef>
              <a:buFontTx/>
              <a:buChar cha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8579-563C-E2AD-B034-70231442AD85}"/>
              </a:ext>
            </a:extLst>
          </p:cNvPr>
          <p:cNvSpPr>
            <a:spLocks noGrp="1"/>
          </p:cNvSpPr>
          <p:nvPr>
            <p:ph type="title"/>
          </p:nvPr>
        </p:nvSpPr>
        <p:spPr>
          <a:xfrm>
            <a:off x="2196274" y="1459244"/>
            <a:ext cx="4192650" cy="528750"/>
          </a:xfrm>
        </p:spPr>
        <p:txBody>
          <a:bodyPr/>
          <a:lstStyle/>
          <a:p>
            <a:r>
              <a:rPr lang="en-US" dirty="0">
                <a:latin typeface="Arial" panose="020B0604020202020204" pitchFamily="34" charset="0"/>
                <a:cs typeface="Arial" panose="020B0604020202020204" pitchFamily="34" charset="0"/>
              </a:rPr>
              <a:t>Table of Content </a:t>
            </a:r>
          </a:p>
        </p:txBody>
      </p:sp>
      <p:sp>
        <p:nvSpPr>
          <p:cNvPr id="3" name="Subtitle 2">
            <a:extLst>
              <a:ext uri="{FF2B5EF4-FFF2-40B4-BE49-F238E27FC236}">
                <a16:creationId xmlns:a16="http://schemas.microsoft.com/office/drawing/2014/main" id="{FE48C898-F7F9-628C-6325-8DF09CF26FA8}"/>
              </a:ext>
            </a:extLst>
          </p:cNvPr>
          <p:cNvSpPr>
            <a:spLocks noGrp="1"/>
          </p:cNvSpPr>
          <p:nvPr>
            <p:ph type="subTitle" idx="1"/>
          </p:nvPr>
        </p:nvSpPr>
        <p:spPr>
          <a:xfrm>
            <a:off x="1883854" y="2243769"/>
            <a:ext cx="4192650" cy="1021725"/>
          </a:xfrm>
        </p:spPr>
        <p:txBody>
          <a:bodyPr/>
          <a:lstStyle/>
          <a:p>
            <a:pPr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Introduction</a:t>
            </a:r>
          </a:p>
          <a:p>
            <a:pPr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Key Insights</a:t>
            </a:r>
          </a:p>
          <a:p>
            <a:pPr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Demographic &amp; Visualization (01-06)</a:t>
            </a:r>
          </a:p>
          <a:p>
            <a:pPr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931675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38"/>
          <p:cNvSpPr txBox="1">
            <a:spLocks noGrp="1"/>
          </p:cNvSpPr>
          <p:nvPr>
            <p:ph type="title"/>
          </p:nvPr>
        </p:nvSpPr>
        <p:spPr>
          <a:xfrm>
            <a:off x="2356294" y="1418150"/>
            <a:ext cx="4192650" cy="528750"/>
          </a:xfrm>
          <a:prstGeom prst="rect">
            <a:avLst/>
          </a:prstGeom>
        </p:spPr>
        <p:txBody>
          <a:bodyPr spcFirstLastPara="1" vert="horz" wrap="square" lIns="68569" tIns="68569" rIns="68569" bIns="68569" rtlCol="0" anchor="t" anchorCtr="0">
            <a:noAutofit/>
          </a:bodyPr>
          <a:lstStyle/>
          <a:p>
            <a:pPr algn="ctr"/>
            <a:r>
              <a:rPr lang="en" dirty="0">
                <a:latin typeface="Arial" panose="020B0604020202020204" pitchFamily="34" charset="0"/>
                <a:cs typeface="Arial" panose="020B0604020202020204" pitchFamily="34" charset="0"/>
              </a:rPr>
              <a:t>Introduction</a:t>
            </a:r>
            <a:endParaRPr dirty="0">
              <a:latin typeface="Arial" panose="020B0604020202020204" pitchFamily="34" charset="0"/>
              <a:cs typeface="Arial" panose="020B0604020202020204" pitchFamily="34" charset="0"/>
            </a:endParaRPr>
          </a:p>
        </p:txBody>
      </p:sp>
      <p:sp>
        <p:nvSpPr>
          <p:cNvPr id="810" name="Google Shape;810;p38"/>
          <p:cNvSpPr txBox="1">
            <a:spLocks noGrp="1"/>
          </p:cNvSpPr>
          <p:nvPr>
            <p:ph type="subTitle" idx="1"/>
          </p:nvPr>
        </p:nvSpPr>
        <p:spPr>
          <a:prstGeom prst="rect">
            <a:avLst/>
          </a:prstGeom>
        </p:spPr>
        <p:txBody>
          <a:bodyPr spcFirstLastPara="1" vert="horz" wrap="square" lIns="68569" tIns="68569" rIns="68569" bIns="68569" rtlCol="0" anchor="t" anchorCtr="0">
            <a:noAutofit/>
          </a:bodyPr>
          <a:lstStyle/>
          <a:p>
            <a:pPr marL="0" indent="0">
              <a:spcAft>
                <a:spcPts val="900"/>
              </a:spcAft>
            </a:pPr>
            <a:r>
              <a:rPr lang="en-IN" sz="1200" dirty="0">
                <a:solidFill>
                  <a:schemeClr val="bg1">
                    <a:lumMod val="10000"/>
                  </a:schemeClr>
                </a:solidFill>
                <a:latin typeface="Times New Roman" panose="02020603050405020304" pitchFamily="18" charset="0"/>
                <a:cs typeface="Times New Roman" panose="02020603050405020304" pitchFamily="18" charset="0"/>
              </a:rPr>
              <a:t>Analysing the CDC's 2022 survey of 240000+ U.S. adults, we aim to highlight key risk factors and behaviours impacting heart disease. Through advanced analytics, we seek to identify crucial health determinants and strategies for improvement, aiming to reduce heart disease rates and enhance public health.</a:t>
            </a:r>
            <a:endParaRPr sz="1200" dirty="0">
              <a:solidFill>
                <a:schemeClr val="bg1">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EE4D1-097D-1200-01B2-3F2483C14E1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Key Insights</a:t>
            </a:r>
          </a:p>
        </p:txBody>
      </p:sp>
      <p:sp>
        <p:nvSpPr>
          <p:cNvPr id="4" name="TextBox 3">
            <a:extLst>
              <a:ext uri="{FF2B5EF4-FFF2-40B4-BE49-F238E27FC236}">
                <a16:creationId xmlns:a16="http://schemas.microsoft.com/office/drawing/2014/main" id="{5A811BBC-C29C-95E6-FC3C-8D108540FC6C}"/>
              </a:ext>
            </a:extLst>
          </p:cNvPr>
          <p:cNvSpPr txBox="1"/>
          <p:nvPr/>
        </p:nvSpPr>
        <p:spPr>
          <a:xfrm>
            <a:off x="1564640" y="1774116"/>
            <a:ext cx="6416040" cy="1569660"/>
          </a:xfrm>
          <a:prstGeom prst="rect">
            <a:avLst/>
          </a:prstGeom>
          <a:noFill/>
        </p:spPr>
        <p:txBody>
          <a:bodyPr wrap="square">
            <a:spAutoFit/>
          </a:bodyPr>
          <a:lstStyle/>
          <a:p>
            <a:r>
              <a:rPr lang="en-US" sz="1200" dirty="0">
                <a:latin typeface="Times New Roman" panose="02020603050405020304" pitchFamily="18" charset="0"/>
                <a:cs typeface="Times New Roman" panose="02020603050405020304" pitchFamily="18" charset="0"/>
              </a:rPr>
              <a:t>Key insights from the presentation are:</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1. Obesity, angina, and depression significantly raise the likelihood of heart disease.</a:t>
            </a:r>
          </a:p>
          <a:p>
            <a:r>
              <a:rPr lang="en-US" sz="1200" dirty="0">
                <a:latin typeface="Times New Roman" panose="02020603050405020304" pitchFamily="18" charset="0"/>
                <a:cs typeface="Times New Roman" panose="02020603050405020304" pitchFamily="18" charset="0"/>
              </a:rPr>
              <a:t>2. Smoking and arthritis are prevalent among heart disease patients and are critical risk factors.</a:t>
            </a:r>
          </a:p>
          <a:p>
            <a:r>
              <a:rPr lang="en-US" sz="1200" dirty="0">
                <a:latin typeface="Times New Roman" panose="02020603050405020304" pitchFamily="18" charset="0"/>
                <a:cs typeface="Times New Roman" panose="02020603050405020304" pitchFamily="18" charset="0"/>
              </a:rPr>
              <a:t>3. Diabetes and inactivity are strongly associated with cardiovascular issues.</a:t>
            </a:r>
          </a:p>
          <a:p>
            <a:r>
              <a:rPr lang="en-US" sz="1200" dirty="0">
                <a:latin typeface="Times New Roman" panose="02020603050405020304" pitchFamily="18" charset="0"/>
                <a:cs typeface="Times New Roman" panose="02020603050405020304" pitchFamily="18" charset="0"/>
              </a:rPr>
              <a:t>4. Targeted interventions and lifestyle changes are essential to reduce heart disease risks..</a:t>
            </a:r>
          </a:p>
          <a:p>
            <a:r>
              <a:rPr lang="en-US" sz="1200" dirty="0">
                <a:latin typeface="Times New Roman" panose="02020603050405020304" pitchFamily="18" charset="0"/>
                <a:cs typeface="Times New Roman" panose="02020603050405020304" pitchFamily="18" charset="0"/>
              </a:rPr>
              <a:t>5. Proactive management of these factors can greatly enhance overall well-being and prevent heart disease</a:t>
            </a:r>
          </a:p>
        </p:txBody>
      </p:sp>
    </p:spTree>
    <p:extLst>
      <p:ext uri="{BB962C8B-B14F-4D97-AF65-F5344CB8AC3E}">
        <p14:creationId xmlns:p14="http://schemas.microsoft.com/office/powerpoint/2010/main" val="1174133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5EF48EF-57E7-F963-0628-F9F7229EF915}"/>
              </a:ext>
            </a:extLst>
          </p:cNvPr>
          <p:cNvSpPr txBox="1"/>
          <p:nvPr/>
        </p:nvSpPr>
        <p:spPr>
          <a:xfrm>
            <a:off x="412499" y="4517714"/>
            <a:ext cx="3514002" cy="715581"/>
          </a:xfrm>
          <a:prstGeom prst="rect">
            <a:avLst/>
          </a:prstGeom>
          <a:noFill/>
        </p:spPr>
        <p:txBody>
          <a:bodyPr wrap="square">
            <a:spAutoFit/>
          </a:bodyPr>
          <a:lstStyle/>
          <a:p>
            <a:r>
              <a:rPr lang="en-US" sz="1350" dirty="0">
                <a:latin typeface="Arial" panose="020B0604020202020204" pitchFamily="34" charset="0"/>
                <a:cs typeface="Arial" panose="020B0604020202020204" pitchFamily="34" charset="0"/>
              </a:rPr>
              <a:t>Above pie chart shows that females are more than males in the sample data population.</a:t>
            </a:r>
          </a:p>
        </p:txBody>
      </p:sp>
      <p:sp>
        <p:nvSpPr>
          <p:cNvPr id="16" name="TextBox 15">
            <a:extLst>
              <a:ext uri="{FF2B5EF4-FFF2-40B4-BE49-F238E27FC236}">
                <a16:creationId xmlns:a16="http://schemas.microsoft.com/office/drawing/2014/main" id="{992A1AB4-A7FB-5784-2EE8-C2A70923CEF2}"/>
              </a:ext>
            </a:extLst>
          </p:cNvPr>
          <p:cNvSpPr txBox="1"/>
          <p:nvPr/>
        </p:nvSpPr>
        <p:spPr>
          <a:xfrm>
            <a:off x="4720892" y="4529394"/>
            <a:ext cx="4297473" cy="507831"/>
          </a:xfrm>
          <a:prstGeom prst="rect">
            <a:avLst/>
          </a:prstGeom>
          <a:noFill/>
        </p:spPr>
        <p:txBody>
          <a:bodyPr wrap="square">
            <a:spAutoFit/>
          </a:bodyPr>
          <a:lstStyle/>
          <a:p>
            <a:r>
              <a:rPr lang="en-US" sz="1350" dirty="0">
                <a:latin typeface="Arial" panose="020B0604020202020204" pitchFamily="34" charset="0"/>
                <a:cs typeface="Arial" panose="020B0604020202020204" pitchFamily="34" charset="0"/>
              </a:rPr>
              <a:t>In this chart, we can see that the Mostly individuals are aged around 65-69</a:t>
            </a:r>
          </a:p>
        </p:txBody>
      </p:sp>
      <p:pic>
        <p:nvPicPr>
          <p:cNvPr id="3" name="Picture 2">
            <a:extLst>
              <a:ext uri="{FF2B5EF4-FFF2-40B4-BE49-F238E27FC236}">
                <a16:creationId xmlns:a16="http://schemas.microsoft.com/office/drawing/2014/main" id="{67D3F5A1-75BE-1B34-4FB5-29AF133D9F01}"/>
              </a:ext>
            </a:extLst>
          </p:cNvPr>
          <p:cNvPicPr>
            <a:picLocks noChangeAspect="1"/>
          </p:cNvPicPr>
          <p:nvPr/>
        </p:nvPicPr>
        <p:blipFill>
          <a:blip r:embed="rId2"/>
          <a:stretch>
            <a:fillRect/>
          </a:stretch>
        </p:blipFill>
        <p:spPr>
          <a:xfrm>
            <a:off x="192024" y="616373"/>
            <a:ext cx="8759952" cy="3843771"/>
          </a:xfrm>
          <a:prstGeom prst="rect">
            <a:avLst/>
          </a:prstGeom>
        </p:spPr>
      </p:pic>
      <p:sp>
        <p:nvSpPr>
          <p:cNvPr id="2" name="TextBox 1">
            <a:extLst>
              <a:ext uri="{FF2B5EF4-FFF2-40B4-BE49-F238E27FC236}">
                <a16:creationId xmlns:a16="http://schemas.microsoft.com/office/drawing/2014/main" id="{9B3C2EC4-8173-22E4-0B2E-1B4D44F5D97F}"/>
              </a:ext>
            </a:extLst>
          </p:cNvPr>
          <p:cNvSpPr txBox="1"/>
          <p:nvPr/>
        </p:nvSpPr>
        <p:spPr>
          <a:xfrm>
            <a:off x="3045291" y="189471"/>
            <a:ext cx="2172390" cy="369332"/>
          </a:xfrm>
          <a:prstGeom prst="rect">
            <a:avLst/>
          </a:prstGeom>
          <a:noFill/>
        </p:spPr>
        <p:txBody>
          <a:bodyPr wrap="none" rtlCol="0">
            <a:spAutoFit/>
          </a:bodyPr>
          <a:lstStyle/>
          <a:p>
            <a:r>
              <a:rPr lang="en" sz="1800" dirty="0">
                <a:latin typeface="Arial" panose="020B0604020202020204" pitchFamily="34" charset="0"/>
                <a:cs typeface="Arial" panose="020B0604020202020204" pitchFamily="34" charset="0"/>
              </a:rPr>
              <a:t>Gender</a:t>
            </a:r>
            <a:r>
              <a:rPr lang="en" dirty="0">
                <a:latin typeface="Arial" panose="020B0604020202020204" pitchFamily="34" charset="0"/>
                <a:cs typeface="Arial" panose="020B0604020202020204" pitchFamily="34" charset="0"/>
              </a:rPr>
              <a:t> </a:t>
            </a:r>
            <a:r>
              <a:rPr lang="en" sz="1800" dirty="0">
                <a:latin typeface="Arial" panose="020B0604020202020204" pitchFamily="34" charset="0"/>
                <a:cs typeface="Arial" panose="020B0604020202020204" pitchFamily="34" charset="0"/>
              </a:rPr>
              <a:t>Distribution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539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57F1CA1-4D61-12E1-826E-61EEA71BEEED}"/>
              </a:ext>
            </a:extLst>
          </p:cNvPr>
          <p:cNvSpPr txBox="1"/>
          <p:nvPr/>
        </p:nvSpPr>
        <p:spPr>
          <a:xfrm>
            <a:off x="695498" y="4067293"/>
            <a:ext cx="7479506" cy="1169551"/>
          </a:xfrm>
          <a:prstGeom prst="rect">
            <a:avLst/>
          </a:prstGeom>
          <a:noFill/>
        </p:spPr>
        <p:txBody>
          <a:bodyPr wrap="square">
            <a:spAutoFit/>
          </a:bodyPr>
          <a:lstStyle/>
          <a:p>
            <a:pPr marL="285750" indent="-285750" algn="just">
              <a:buFont typeface="Wingdings" panose="05000000000000000000" pitchFamily="2" charset="2"/>
              <a:buChar char="Ø"/>
            </a:pPr>
            <a:r>
              <a:rPr lang="en-US" sz="1400" b="1" i="0" dirty="0">
                <a:solidFill>
                  <a:srgbClr val="3C4043"/>
                </a:solidFill>
                <a:effectLst/>
                <a:latin typeface="Arial" panose="020B0604020202020204" pitchFamily="34" charset="0"/>
                <a:cs typeface="Arial" panose="020B0604020202020204" pitchFamily="34" charset="0"/>
              </a:rPr>
              <a:t> Many individuals did not experience any heart disease. However, among those who did, the majority were males.</a:t>
            </a:r>
          </a:p>
          <a:p>
            <a:pPr marL="285750" indent="-285750" algn="l">
              <a:buFont typeface="Wingdings" panose="05000000000000000000" pitchFamily="2" charset="2"/>
              <a:buChar char="Ø"/>
            </a:pPr>
            <a:r>
              <a:rPr lang="en-US" sz="1400" b="1" i="0" dirty="0">
                <a:solidFill>
                  <a:srgbClr val="3C4043"/>
                </a:solidFill>
                <a:effectLst/>
                <a:latin typeface="Arial" panose="020B0604020202020204" pitchFamily="34" charset="0"/>
                <a:cs typeface="Arial" panose="020B0604020202020204" pitchFamily="34" charset="0"/>
              </a:rPr>
              <a:t>The individuals who are above 80 have experienced heart diseases among different age groups. However, those who are aged between 18-24 had a bit of experience with heart diseases</a:t>
            </a:r>
          </a:p>
        </p:txBody>
      </p:sp>
      <p:pic>
        <p:nvPicPr>
          <p:cNvPr id="6" name="Picture 5">
            <a:extLst>
              <a:ext uri="{FF2B5EF4-FFF2-40B4-BE49-F238E27FC236}">
                <a16:creationId xmlns:a16="http://schemas.microsoft.com/office/drawing/2014/main" id="{AFBE4BF8-8838-3C39-2B35-78BC9A2E064E}"/>
              </a:ext>
            </a:extLst>
          </p:cNvPr>
          <p:cNvPicPr>
            <a:picLocks noChangeAspect="1"/>
          </p:cNvPicPr>
          <p:nvPr/>
        </p:nvPicPr>
        <p:blipFill>
          <a:blip r:embed="rId2"/>
          <a:stretch>
            <a:fillRect/>
          </a:stretch>
        </p:blipFill>
        <p:spPr>
          <a:xfrm>
            <a:off x="109728" y="639495"/>
            <a:ext cx="8924544" cy="3329678"/>
          </a:xfrm>
          <a:prstGeom prst="rect">
            <a:avLst/>
          </a:prstGeom>
        </p:spPr>
      </p:pic>
      <p:sp>
        <p:nvSpPr>
          <p:cNvPr id="2" name="TextBox 1">
            <a:extLst>
              <a:ext uri="{FF2B5EF4-FFF2-40B4-BE49-F238E27FC236}">
                <a16:creationId xmlns:a16="http://schemas.microsoft.com/office/drawing/2014/main" id="{FA84E7F1-2A64-57D2-56D0-6629451874E7}"/>
              </a:ext>
            </a:extLst>
          </p:cNvPr>
          <p:cNvSpPr txBox="1"/>
          <p:nvPr/>
        </p:nvSpPr>
        <p:spPr>
          <a:xfrm>
            <a:off x="2079414" y="172043"/>
            <a:ext cx="4711674" cy="369332"/>
          </a:xfrm>
          <a:prstGeom prst="rect">
            <a:avLst/>
          </a:prstGeom>
          <a:noFill/>
        </p:spPr>
        <p:txBody>
          <a:bodyPr wrap="none" rtlCol="0">
            <a:spAutoFit/>
          </a:bodyPr>
          <a:lstStyle/>
          <a:p>
            <a:r>
              <a:rPr lang="en-IN" sz="1800" dirty="0">
                <a:solidFill>
                  <a:schemeClr val="bg1">
                    <a:lumMod val="10000"/>
                  </a:schemeClr>
                </a:solidFill>
                <a:latin typeface="Arial" panose="020B0604020202020204" pitchFamily="34" charset="0"/>
                <a:cs typeface="Arial" panose="020B0604020202020204" pitchFamily="34" charset="0"/>
              </a:rPr>
              <a:t>Heart Attack Prevalence by Gender and Age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2511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37C7B60-031E-1503-E319-960C17C0BCE3}"/>
              </a:ext>
            </a:extLst>
          </p:cNvPr>
          <p:cNvSpPr txBox="1"/>
          <p:nvPr/>
        </p:nvSpPr>
        <p:spPr>
          <a:xfrm>
            <a:off x="366374" y="4433051"/>
            <a:ext cx="8258175" cy="507831"/>
          </a:xfrm>
          <a:prstGeom prst="rect">
            <a:avLst/>
          </a:prstGeom>
          <a:noFill/>
        </p:spPr>
        <p:txBody>
          <a:bodyPr wrap="square">
            <a:spAutoFit/>
          </a:bodyPr>
          <a:lstStyle/>
          <a:p>
            <a:pPr marL="285750" indent="-285750">
              <a:buFont typeface="Wingdings" panose="05000000000000000000" pitchFamily="2" charset="2"/>
              <a:buChar char="Ø"/>
            </a:pPr>
            <a:r>
              <a:rPr lang="en-US" sz="1350" dirty="0">
                <a:latin typeface="Times New Roman" panose="02020603050405020304" pitchFamily="18" charset="0"/>
                <a:cs typeface="Times New Roman" panose="02020603050405020304" pitchFamily="18" charset="0"/>
              </a:rPr>
              <a:t>Physical activity peaks at 65-69 but declines after 80; smoking prevalent at 60-64, decreases by 70-74, while e-cigarette use peaks at 18-24; diabetes rates highest at 70-74, lowest among 18-30.</a:t>
            </a:r>
          </a:p>
        </p:txBody>
      </p:sp>
      <p:pic>
        <p:nvPicPr>
          <p:cNvPr id="3" name="Picture 2">
            <a:extLst>
              <a:ext uri="{FF2B5EF4-FFF2-40B4-BE49-F238E27FC236}">
                <a16:creationId xmlns:a16="http://schemas.microsoft.com/office/drawing/2014/main" id="{02D037C9-36ED-0647-AA1A-EB2FC360A655}"/>
              </a:ext>
            </a:extLst>
          </p:cNvPr>
          <p:cNvPicPr>
            <a:picLocks noChangeAspect="1"/>
          </p:cNvPicPr>
          <p:nvPr/>
        </p:nvPicPr>
        <p:blipFill>
          <a:blip r:embed="rId3"/>
          <a:stretch>
            <a:fillRect/>
          </a:stretch>
        </p:blipFill>
        <p:spPr>
          <a:xfrm>
            <a:off x="0" y="498818"/>
            <a:ext cx="9144000" cy="3891947"/>
          </a:xfrm>
          <a:prstGeom prst="rect">
            <a:avLst/>
          </a:prstGeom>
        </p:spPr>
      </p:pic>
      <p:sp>
        <p:nvSpPr>
          <p:cNvPr id="2" name="TextBox 1">
            <a:extLst>
              <a:ext uri="{FF2B5EF4-FFF2-40B4-BE49-F238E27FC236}">
                <a16:creationId xmlns:a16="http://schemas.microsoft.com/office/drawing/2014/main" id="{BC8AD0D0-6FFA-D28B-B7C7-DCC675892FDD}"/>
              </a:ext>
            </a:extLst>
          </p:cNvPr>
          <p:cNvSpPr txBox="1"/>
          <p:nvPr/>
        </p:nvSpPr>
        <p:spPr>
          <a:xfrm>
            <a:off x="2286000" y="87201"/>
            <a:ext cx="4566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Health Status Among Different Age Groups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4990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931C55-8203-EFA9-38A0-4C47906253A1}"/>
              </a:ext>
            </a:extLst>
          </p:cNvPr>
          <p:cNvSpPr txBox="1"/>
          <p:nvPr/>
        </p:nvSpPr>
        <p:spPr>
          <a:xfrm>
            <a:off x="1192575" y="4467971"/>
            <a:ext cx="6416118" cy="946413"/>
          </a:xfrm>
          <a:prstGeom prst="rect">
            <a:avLst/>
          </a:prstGeom>
          <a:noFill/>
        </p:spPr>
        <p:txBody>
          <a:bodyPr wrap="square">
            <a:spAutoFit/>
          </a:bodyPr>
          <a:lstStyle/>
          <a:p>
            <a:r>
              <a:rPr lang="en-US" sz="1350" dirty="0">
                <a:solidFill>
                  <a:schemeClr val="bg1">
                    <a:lumMod val="10000"/>
                  </a:schemeClr>
                </a:solidFill>
                <a:latin typeface="Arial" panose="020B0604020202020204" pitchFamily="34" charset="0"/>
                <a:cs typeface="Arial" panose="020B0604020202020204" pitchFamily="34" charset="0"/>
              </a:rPr>
              <a:t>This pie chart shows that about 20% of heart patients also suffer from depression</a:t>
            </a:r>
            <a:r>
              <a:rPr lang="en-US" sz="1200" dirty="0">
                <a:solidFill>
                  <a:schemeClr val="bg1">
                    <a:lumMod val="10000"/>
                  </a:schemeClr>
                </a:solidFill>
                <a:latin typeface="Arial" panose="020B0604020202020204" pitchFamily="34" charset="0"/>
                <a:cs typeface="Arial" panose="020B0604020202020204" pitchFamily="34" charset="0"/>
              </a:rPr>
              <a:t>, </a:t>
            </a:r>
            <a:r>
              <a:rPr lang="en-US" sz="1400" i="0" dirty="0">
                <a:solidFill>
                  <a:srgbClr val="3C4043"/>
                </a:solidFill>
                <a:effectLst/>
                <a:latin typeface="Arial" panose="020B0604020202020204" pitchFamily="34" charset="0"/>
                <a:cs typeface="Arial" panose="020B0604020202020204" pitchFamily="34" charset="0"/>
              </a:rPr>
              <a:t>If we consider all the heart patients, then one out of four people are facing depressive disorders.</a:t>
            </a:r>
          </a:p>
          <a:p>
            <a:endParaRPr lang="en-US" sz="1350" dirty="0">
              <a:solidFill>
                <a:schemeClr val="bg1">
                  <a:lumMod val="10000"/>
                </a:schemeClr>
              </a:solidFill>
            </a:endParaRPr>
          </a:p>
        </p:txBody>
      </p:sp>
      <p:pic>
        <p:nvPicPr>
          <p:cNvPr id="9" name="Picture 8">
            <a:extLst>
              <a:ext uri="{FF2B5EF4-FFF2-40B4-BE49-F238E27FC236}">
                <a16:creationId xmlns:a16="http://schemas.microsoft.com/office/drawing/2014/main" id="{FF2DA84A-99CA-D14A-D409-5FE78FC29F07}"/>
              </a:ext>
            </a:extLst>
          </p:cNvPr>
          <p:cNvPicPr>
            <a:picLocks noChangeAspect="1"/>
          </p:cNvPicPr>
          <p:nvPr/>
        </p:nvPicPr>
        <p:blipFill>
          <a:blip r:embed="rId2"/>
          <a:stretch>
            <a:fillRect/>
          </a:stretch>
        </p:blipFill>
        <p:spPr>
          <a:xfrm>
            <a:off x="1192575" y="799138"/>
            <a:ext cx="6542572" cy="3332595"/>
          </a:xfrm>
          <a:prstGeom prst="rect">
            <a:avLst/>
          </a:prstGeom>
        </p:spPr>
      </p:pic>
      <p:sp>
        <p:nvSpPr>
          <p:cNvPr id="10" name="TextBox 9">
            <a:extLst>
              <a:ext uri="{FF2B5EF4-FFF2-40B4-BE49-F238E27FC236}">
                <a16:creationId xmlns:a16="http://schemas.microsoft.com/office/drawing/2014/main" id="{FD79C1A9-63CB-6907-99CC-1CBD99D42604}"/>
              </a:ext>
            </a:extLst>
          </p:cNvPr>
          <p:cNvSpPr txBox="1"/>
          <p:nvPr/>
        </p:nvSpPr>
        <p:spPr>
          <a:xfrm>
            <a:off x="1499647" y="257387"/>
            <a:ext cx="5801973" cy="646331"/>
          </a:xfrm>
          <a:prstGeom prst="rect">
            <a:avLst/>
          </a:prstGeom>
          <a:noFill/>
        </p:spPr>
        <p:txBody>
          <a:bodyPr wrap="none" rtlCol="0">
            <a:spAutoFit/>
          </a:bodyPr>
          <a:lstStyle/>
          <a:p>
            <a:r>
              <a:rPr lang="en-IN" sz="1800" b="1" dirty="0">
                <a:latin typeface="Times New Roman" panose="02020603050405020304" pitchFamily="18" charset="0"/>
                <a:cs typeface="Times New Roman" panose="02020603050405020304" pitchFamily="18" charset="0"/>
              </a:rPr>
              <a:t>Prevalence of Depressive Disorder Among Heart Patients</a:t>
            </a:r>
            <a:br>
              <a:rPr lang="en-IN" sz="1800" b="1"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1560092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DA0634-EC37-C06F-5BDA-7E4C39837A92}"/>
              </a:ext>
            </a:extLst>
          </p:cNvPr>
          <p:cNvSpPr txBox="1"/>
          <p:nvPr/>
        </p:nvSpPr>
        <p:spPr>
          <a:xfrm>
            <a:off x="1499406" y="4357254"/>
            <a:ext cx="6416118" cy="461665"/>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Here you can see that many people reported heart disease who previously had problems of arthritis, diabetes, and obesity.</a:t>
            </a:r>
          </a:p>
        </p:txBody>
      </p:sp>
      <p:pic>
        <p:nvPicPr>
          <p:cNvPr id="6" name="Picture 5" descr="A graph showing the number of diseases&#10;&#10;Description automatically generated">
            <a:extLst>
              <a:ext uri="{FF2B5EF4-FFF2-40B4-BE49-F238E27FC236}">
                <a16:creationId xmlns:a16="http://schemas.microsoft.com/office/drawing/2014/main" id="{CF65E45E-B3FE-C1E6-021F-75706E62499C}"/>
              </a:ext>
            </a:extLst>
          </p:cNvPr>
          <p:cNvPicPr>
            <a:picLocks noChangeAspect="1"/>
          </p:cNvPicPr>
          <p:nvPr/>
        </p:nvPicPr>
        <p:blipFill>
          <a:blip r:embed="rId2"/>
          <a:stretch>
            <a:fillRect/>
          </a:stretch>
        </p:blipFill>
        <p:spPr>
          <a:xfrm>
            <a:off x="0" y="115147"/>
            <a:ext cx="9132625" cy="4002215"/>
          </a:xfrm>
          <a:prstGeom prst="rect">
            <a:avLst/>
          </a:prstGeom>
        </p:spPr>
      </p:pic>
    </p:spTree>
    <p:extLst>
      <p:ext uri="{BB962C8B-B14F-4D97-AF65-F5344CB8AC3E}">
        <p14:creationId xmlns:p14="http://schemas.microsoft.com/office/powerpoint/2010/main" val="2332101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931C55-8203-EFA9-38A0-4C47906253A1}"/>
              </a:ext>
            </a:extLst>
          </p:cNvPr>
          <p:cNvSpPr txBox="1"/>
          <p:nvPr/>
        </p:nvSpPr>
        <p:spPr>
          <a:xfrm>
            <a:off x="1413756" y="4416628"/>
            <a:ext cx="6416118" cy="715581"/>
          </a:xfrm>
          <a:prstGeom prst="rect">
            <a:avLst/>
          </a:prstGeom>
          <a:noFill/>
        </p:spPr>
        <p:txBody>
          <a:bodyPr wrap="square">
            <a:spAutoFit/>
          </a:bodyPr>
          <a:lstStyle/>
          <a:p>
            <a:r>
              <a:rPr lang="en-IN" sz="1350" dirty="0">
                <a:solidFill>
                  <a:schemeClr val="bg1">
                    <a:lumMod val="10000"/>
                  </a:schemeClr>
                </a:solidFill>
                <a:latin typeface="Arial" panose="020B0604020202020204" pitchFamily="34" charset="0"/>
                <a:cs typeface="Arial" panose="020B0604020202020204" pitchFamily="34" charset="0"/>
              </a:rPr>
              <a:t>This pie chart shows that arthritis, obesity, and diabetes are the most common comorbid conditions in heart disease patients, emphasizing the need for integrated care approaches.</a:t>
            </a:r>
            <a:endParaRPr lang="en-US" sz="1350" dirty="0">
              <a:solidFill>
                <a:schemeClr val="bg1">
                  <a:lumMod val="1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3DAB7CF-2496-7120-E8AA-15CF140223EC}"/>
              </a:ext>
            </a:extLst>
          </p:cNvPr>
          <p:cNvPicPr>
            <a:picLocks noChangeAspect="1"/>
          </p:cNvPicPr>
          <p:nvPr/>
        </p:nvPicPr>
        <p:blipFill>
          <a:blip r:embed="rId2"/>
          <a:stretch>
            <a:fillRect/>
          </a:stretch>
        </p:blipFill>
        <p:spPr>
          <a:xfrm>
            <a:off x="1334875" y="698519"/>
            <a:ext cx="6162675" cy="3551482"/>
          </a:xfrm>
          <a:prstGeom prst="rect">
            <a:avLst/>
          </a:prstGeom>
        </p:spPr>
      </p:pic>
      <p:sp>
        <p:nvSpPr>
          <p:cNvPr id="8" name="TextBox 7">
            <a:extLst>
              <a:ext uri="{FF2B5EF4-FFF2-40B4-BE49-F238E27FC236}">
                <a16:creationId xmlns:a16="http://schemas.microsoft.com/office/drawing/2014/main" id="{6C009E4E-9A23-1BF3-1765-3B373DDA475A}"/>
              </a:ext>
            </a:extLst>
          </p:cNvPr>
          <p:cNvSpPr txBox="1"/>
          <p:nvPr/>
        </p:nvSpPr>
        <p:spPr>
          <a:xfrm>
            <a:off x="1457677" y="162560"/>
            <a:ext cx="5917069" cy="369332"/>
          </a:xfrm>
          <a:prstGeom prst="rect">
            <a:avLst/>
          </a:prstGeom>
          <a:noFill/>
        </p:spPr>
        <p:txBody>
          <a:bodyPr wrap="none" rtlCol="0">
            <a:spAutoFit/>
          </a:bodyPr>
          <a:lstStyle/>
          <a:p>
            <a:r>
              <a:rPr lang="en-IN" dirty="0">
                <a:latin typeface="Arial" panose="020B0604020202020204" pitchFamily="34" charset="0"/>
                <a:cs typeface="Arial" panose="020B0604020202020204" pitchFamily="34" charset="0"/>
              </a:rPr>
              <a:t>Prevalence of Chronic Conditions Among Heart Patients</a:t>
            </a:r>
          </a:p>
        </p:txBody>
      </p:sp>
    </p:spTree>
    <p:extLst>
      <p:ext uri="{BB962C8B-B14F-4D97-AF65-F5344CB8AC3E}">
        <p14:creationId xmlns:p14="http://schemas.microsoft.com/office/powerpoint/2010/main" val="1458540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3873558-4131-8428-5CFE-E67E8620B2E1}"/>
              </a:ext>
            </a:extLst>
          </p:cNvPr>
          <p:cNvPicPr>
            <a:picLocks noChangeAspect="1"/>
          </p:cNvPicPr>
          <p:nvPr/>
        </p:nvPicPr>
        <p:blipFill>
          <a:blip r:embed="rId2"/>
          <a:stretch>
            <a:fillRect/>
          </a:stretch>
        </p:blipFill>
        <p:spPr>
          <a:xfrm>
            <a:off x="839893" y="663787"/>
            <a:ext cx="7518400" cy="3705013"/>
          </a:xfrm>
          <a:prstGeom prst="rect">
            <a:avLst/>
          </a:prstGeom>
        </p:spPr>
      </p:pic>
      <p:sp>
        <p:nvSpPr>
          <p:cNvPr id="10" name="TextBox 9">
            <a:extLst>
              <a:ext uri="{FF2B5EF4-FFF2-40B4-BE49-F238E27FC236}">
                <a16:creationId xmlns:a16="http://schemas.microsoft.com/office/drawing/2014/main" id="{FE3E8666-12BE-D444-3956-F643783129D5}"/>
              </a:ext>
            </a:extLst>
          </p:cNvPr>
          <p:cNvSpPr txBox="1"/>
          <p:nvPr/>
        </p:nvSpPr>
        <p:spPr>
          <a:xfrm>
            <a:off x="2634826" y="150958"/>
            <a:ext cx="3852465" cy="369332"/>
          </a:xfrm>
          <a:prstGeom prst="rect">
            <a:avLst/>
          </a:prstGeom>
          <a:noFill/>
        </p:spPr>
        <p:txBody>
          <a:bodyPr wrap="none" rtlCol="0">
            <a:spAutoFit/>
          </a:bodyPr>
          <a:lstStyle/>
          <a:p>
            <a:r>
              <a:rPr lang="en-IN" dirty="0">
                <a:latin typeface="Arial" panose="020B0604020202020204" pitchFamily="34" charset="0"/>
                <a:cs typeface="Arial" panose="020B0604020202020204" pitchFamily="34" charset="0"/>
              </a:rPr>
              <a:t>Count of Heart Attacks Along States</a:t>
            </a:r>
          </a:p>
        </p:txBody>
      </p:sp>
      <p:sp>
        <p:nvSpPr>
          <p:cNvPr id="12" name="TextBox 11">
            <a:extLst>
              <a:ext uri="{FF2B5EF4-FFF2-40B4-BE49-F238E27FC236}">
                <a16:creationId xmlns:a16="http://schemas.microsoft.com/office/drawing/2014/main" id="{7F23E2E6-6983-0A6A-900B-D8DED44F9D94}"/>
              </a:ext>
            </a:extLst>
          </p:cNvPr>
          <p:cNvSpPr txBox="1"/>
          <p:nvPr/>
        </p:nvSpPr>
        <p:spPr>
          <a:xfrm>
            <a:off x="532323" y="4512297"/>
            <a:ext cx="8202968"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 this map, Washington exhibits the highest prevalence of heart attacks, with a recorded percentage of 6%.</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3260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3560-C9F3-A62F-57D9-44230C18738F}"/>
              </a:ext>
            </a:extLst>
          </p:cNvPr>
          <p:cNvSpPr>
            <a:spLocks noGrp="1"/>
          </p:cNvSpPr>
          <p:nvPr>
            <p:ph type="title"/>
          </p:nvPr>
        </p:nvSpPr>
        <p:spPr>
          <a:xfrm>
            <a:off x="1692225" y="1040338"/>
            <a:ext cx="5759550" cy="429525"/>
          </a:xfrm>
        </p:spPr>
        <p:txBody>
          <a:bodyPr>
            <a:normAutofit fontScale="90000"/>
          </a:bodyPr>
          <a:lstStyle/>
          <a:p>
            <a:r>
              <a:rPr lang="en-US" dirty="0">
                <a:latin typeface="Arial" panose="020B0604020202020204" pitchFamily="34" charset="0"/>
                <a:cs typeface="Arial" panose="020B0604020202020204" pitchFamily="34" charset="0"/>
              </a:rPr>
              <a:t>Conclusion</a:t>
            </a:r>
          </a:p>
        </p:txBody>
      </p:sp>
      <p:sp>
        <p:nvSpPr>
          <p:cNvPr id="4" name="TextBox 3">
            <a:extLst>
              <a:ext uri="{FF2B5EF4-FFF2-40B4-BE49-F238E27FC236}">
                <a16:creationId xmlns:a16="http://schemas.microsoft.com/office/drawing/2014/main" id="{A5FACECD-7A97-C601-BB82-52E5EB0935B7}"/>
              </a:ext>
            </a:extLst>
          </p:cNvPr>
          <p:cNvSpPr txBox="1"/>
          <p:nvPr/>
        </p:nvSpPr>
        <p:spPr>
          <a:xfrm>
            <a:off x="1466458" y="1844690"/>
            <a:ext cx="6244669" cy="1546577"/>
          </a:xfrm>
          <a:prstGeom prst="rect">
            <a:avLst/>
          </a:prstGeom>
          <a:noFill/>
        </p:spPr>
        <p:txBody>
          <a:bodyPr wrap="square">
            <a:spAutoFit/>
          </a:bodyPr>
          <a:lstStyle/>
          <a:p>
            <a:pPr algn="just"/>
            <a:r>
              <a:rPr lang="en-IN" sz="1350" dirty="0">
                <a:solidFill>
                  <a:schemeClr val="bg1">
                    <a:lumMod val="10000"/>
                  </a:schemeClr>
                </a:solidFill>
                <a:latin typeface="Times New Roman" panose="02020603050405020304" pitchFamily="18" charset="0"/>
                <a:cs typeface="Times New Roman" panose="02020603050405020304" pitchFamily="18" charset="0"/>
              </a:rPr>
              <a:t>After a thorough analysis of the dataset, it is evident that several key factors significantly influence the likelihood of heart disease. These include obesity, angina pain, depressive disorder, smoking, arthritis, diabetes, and lack of physical activity. Addressing these factors through targeted interventions and lifestyle modifications is crucial in mitigating the risk of heart disease. By focusing on prevention strategies and promoting healthier </a:t>
            </a:r>
            <a:r>
              <a:rPr lang="en-IN" sz="1350" dirty="0" err="1">
                <a:solidFill>
                  <a:schemeClr val="bg1">
                    <a:lumMod val="10000"/>
                  </a:schemeClr>
                </a:solidFill>
                <a:latin typeface="Times New Roman" panose="02020603050405020304" pitchFamily="18" charset="0"/>
                <a:cs typeface="Times New Roman" panose="02020603050405020304" pitchFamily="18" charset="0"/>
              </a:rPr>
              <a:t>behaviors</a:t>
            </a:r>
            <a:r>
              <a:rPr lang="en-IN" sz="1350" dirty="0">
                <a:solidFill>
                  <a:schemeClr val="bg1">
                    <a:lumMod val="10000"/>
                  </a:schemeClr>
                </a:solidFill>
                <a:latin typeface="Times New Roman" panose="02020603050405020304" pitchFamily="18" charset="0"/>
                <a:cs typeface="Times New Roman" panose="02020603050405020304" pitchFamily="18" charset="0"/>
              </a:rPr>
              <a:t>, individuals can take proactive steps toward safeguarding their cardiovascular health and overall well-being.</a:t>
            </a:r>
          </a:p>
        </p:txBody>
      </p:sp>
    </p:spTree>
    <p:extLst>
      <p:ext uri="{BB962C8B-B14F-4D97-AF65-F5344CB8AC3E}">
        <p14:creationId xmlns:p14="http://schemas.microsoft.com/office/powerpoint/2010/main" val="530665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1E633-D758-864B-E20A-FF5753A6AAE2}"/>
              </a:ext>
            </a:extLst>
          </p:cNvPr>
          <p:cNvSpPr txBox="1"/>
          <p:nvPr/>
        </p:nvSpPr>
        <p:spPr>
          <a:xfrm>
            <a:off x="1143001" y="2064031"/>
            <a:ext cx="6858000"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Thank You !</a:t>
            </a:r>
          </a:p>
        </p:txBody>
      </p:sp>
    </p:spTree>
    <p:extLst>
      <p:ext uri="{BB962C8B-B14F-4D97-AF65-F5344CB8AC3E}">
        <p14:creationId xmlns:p14="http://schemas.microsoft.com/office/powerpoint/2010/main" val="218535275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TM10001115[[fn=Parcel]]</Template>
  <TotalTime>1620</TotalTime>
  <Words>526</Words>
  <Application>Microsoft Office PowerPoint</Application>
  <PresentationFormat>On-screen Show (16:9)</PresentationFormat>
  <Paragraphs>37</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Times New Roman</vt:lpstr>
      <vt:lpstr>Arial</vt:lpstr>
      <vt:lpstr>Gill Sans MT</vt:lpstr>
      <vt:lpstr>Arial Black</vt:lpstr>
      <vt:lpstr>Wingdings</vt:lpstr>
      <vt:lpstr>Parcel</vt:lpstr>
      <vt:lpstr>Indicators of Heart Disease Group – Health Statistics </vt:lpstr>
      <vt:lpstr>Table of Content </vt:lpstr>
      <vt:lpstr>Introduction</vt:lpstr>
      <vt:lpstr>Key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Indicators of Heart Disease Group – Health</dc:title>
  <dc:creator>sameer savan</dc:creator>
  <cp:lastModifiedBy>sameer savan</cp:lastModifiedBy>
  <cp:revision>9</cp:revision>
  <dcterms:modified xsi:type="dcterms:W3CDTF">2024-04-14T01:57:22Z</dcterms:modified>
</cp:coreProperties>
</file>